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d11b372-5e67-ee23-942c-dcbccb5bbba5}">
          <p14:sldIdLst>
            <p14:sldId id="256"/>
          </p14:sldIdLst>
        </p14:section>
        <p14:section name="Market" id="{68722d0c-da9e-c81a-98ea-2bdd7e811bb9}">
          <p14:sldIdLst>
            <p14:sldId id="257"/>
            <p14:sldId id="258"/>
          </p14:sldIdLst>
        </p14:section>
        <p14:section name="Channels" id="{5b54857b-05e5-1c10-686e-e83d8a29fc86}">
          <p14:sldIdLst>
            <p14:sldId id="259"/>
            <p14:sldId id="260"/>
            <p14:sldId id="261"/>
            <p14:sldId id="262"/>
          </p14:sldIdLst>
        </p14:section>
        <p14:section name="Action" id="{a04f9c8c-7ed7-2d12-ef49-453c9671eeb4}">
          <p14:sldIdLst>
            <p14:sldId id="263"/>
            <p14:sldId id="264"/>
            <p14:sldId id="265"/>
          </p14:sldIdLst>
        </p14:section>
        <p14:section name="Appendix" id="{0c9a5f4f-7d7e-4471-f995-570522fab1b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22"/>
                </a:solidFill>
                <a:latin typeface="+mn-lt"/>
              </a:rPr>
              <a:t>India supermarket retail market, USD billion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billion</c:v>
                </c:pt>
              </c:strCache>
            </c:strRef>
          </c:tx>
          <c:spPr>
            <a:solidFill>
              <a:srgbClr val="1E7B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2020</c:v>
                  </c:pt>
                  <c:pt idx="1">
                    <c:v>2025</c:v>
                  </c:pt>
                  <c:pt idx="2">
                    <c:v>2032F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29.2</c:v>
                </c:pt>
                <c:pt idx="2">
                  <c:v>71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CE8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22"/>
                </a:solidFill>
                <a:latin typeface="+mn-lt"/>
              </a:rPr>
              <a:t>Share of India's grocery market,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Kirana / general trade</c:v>
                </c:pt>
              </c:strCache>
            </c:strRef>
          </c:tx>
          <c:spPr>
            <a:solidFill>
              <a:srgbClr val="1453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2030F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</c:v>
                </c:pt>
                <c:pt idx="1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Modern trade &amp; online</c:v>
                </c:pt>
              </c:strCache>
            </c:strRef>
          </c:tx>
          <c:spPr>
            <a:solidFill>
              <a:srgbClr val="B85C0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2030F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CE8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22"/>
                </a:solidFill>
                <a:latin typeface="+mn-lt"/>
              </a:rPr>
              <a:t>E-commerce share of grocery,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 share</c:v>
                </c:pt>
              </c:strCache>
            </c:strRef>
          </c:tx>
          <c:spPr>
            <a:solidFill>
              <a:srgbClr val="1E7B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All-India urban</c:v>
                  </c:pt>
                  <c:pt idx="1">
                    <c:v>Metros</c:v>
                  </c:pt>
                  <c:pt idx="2">
                    <c:v>Top 8 metros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16</c:v>
                </c:pt>
                <c:pt idx="2">
                  <c:v>19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CE8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1188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Supermarket &amp; Grocery Sales</a:t>
            </a:r>
            <a:endParaRPr lang="en-US" sz="40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548640" y="3017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Market snapshot, channel shifts and a growth playbook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India | October 2026</a:t>
            </a:r>
            <a:endParaRPr lang="en-US" sz="1600" dirty="0"/>
          </a:p>
        </p:txBody>
      </p:sp>
      <p:sp>
        <p:nvSpPr>
          <p:cNvPr id="4" name="Motif circle green"/>
          <p:cNvSpPr/>
          <p:nvPr/>
        </p:nvSpPr>
        <p:spPr>
          <a:xfrm>
            <a:off x="6035040" y="82296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 circle yellow"/>
          <p:cNvSpPr/>
          <p:nvPr/>
        </p:nvSpPr>
        <p:spPr>
          <a:xfrm>
            <a:off x="7040880" y="2377440"/>
            <a:ext cx="1737360" cy="17373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Motif circle orange"/>
          <p:cNvSpPr/>
          <p:nvPr/>
        </p:nvSpPr>
        <p:spPr>
          <a:xfrm>
            <a:off x="5577840" y="310896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India grocery at a glance</a:t>
            </a:r>
            <a:endParaRPr lang="en-US" sz="3200" dirty="0"/>
          </a:p>
        </p:txBody>
      </p:sp>
      <p:sp>
        <p:nvSpPr>
          <p:cNvPr id="3" name="Stat 91%"/>
          <p:cNvSpPr/>
          <p:nvPr/>
        </p:nvSpPr>
        <p:spPr>
          <a:xfrm>
            <a:off x="457200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91%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Kirana share of India's grocery market, 2025</a:t>
            </a:r>
            <a:endParaRPr lang="en-US" sz="1400" dirty="0"/>
          </a:p>
        </p:txBody>
      </p:sp>
      <p:sp>
        <p:nvSpPr>
          <p:cNvPr id="6" name="Stat $90B+"/>
          <p:cNvSpPr/>
          <p:nvPr/>
        </p:nvSpPr>
        <p:spPr>
          <a:xfrm>
            <a:off x="2587752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70632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$90B+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70632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retail in 2026, growing 22 to 24%</a:t>
            </a:r>
            <a:endParaRPr lang="en-US" sz="1400" dirty="0"/>
          </a:p>
        </p:txBody>
      </p:sp>
      <p:sp>
        <p:nvSpPr>
          <p:cNvPr id="9" name="Stat 10%"/>
          <p:cNvSpPr/>
          <p:nvPr/>
        </p:nvSpPr>
        <p:spPr>
          <a:xfrm>
            <a:off x="4727448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10328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Retail sales growth, March 2026 (year on year)</a:t>
            </a:r>
            <a:endParaRPr lang="en-US" sz="1400" dirty="0"/>
          </a:p>
        </p:txBody>
      </p:sp>
      <p:sp>
        <p:nvSpPr>
          <p:cNvPr id="12" name="Stat 13.5%"/>
          <p:cNvSpPr/>
          <p:nvPr/>
        </p:nvSpPr>
        <p:spPr>
          <a:xfrm>
            <a:off x="6858000" y="1325880"/>
            <a:ext cx="1828800" cy="21945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13.5%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CAGR for supermarkets, 2025-32</a:t>
            </a:r>
            <a:endParaRPr lang="en-US" sz="1400" dirty="0"/>
          </a:p>
        </p:txBody>
      </p:sp>
      <p:sp>
        <p:nvSpPr>
          <p:cNvPr id="15" name="Takeaway band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Scale sits with kiranas; growth sits with supermarkets, online and quick commerce.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Sources: Redseer, Retailers Association of India, Ken Research. Full list on the last slide.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Supermarkets are scaling fast</a:t>
            </a:r>
            <a:endParaRPr lang="en-US" sz="3200" dirty="0"/>
          </a:p>
        </p:txBody>
      </p:sp>
      <p:graphicFrame>
        <p:nvGraphicFramePr>
          <p:cNvPr id="3" name="Supermarket market chart" descr=""/>
          <p:cNvGraphicFramePr/>
          <p:nvPr/>
        </p:nvGraphicFramePr>
        <p:xfrm>
          <a:off x="457200" y="123444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13.5%"/>
          <p:cNvSpPr/>
          <p:nvPr/>
        </p:nvSpPr>
        <p:spPr>
          <a:xfrm>
            <a:off x="5943600" y="132588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264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13.5%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CAGR 2025-32, vs 8.8% in 2020-25</a:t>
            </a:r>
            <a:endParaRPr lang="en-US" sz="1400" dirty="0"/>
          </a:p>
        </p:txBody>
      </p:sp>
      <p:sp>
        <p:nvSpPr>
          <p:cNvPr id="7" name="Stat ~$65B"/>
          <p:cNvSpPr/>
          <p:nvPr/>
        </p:nvSpPr>
        <p:spPr>
          <a:xfrm>
            <a:off x="5943600" y="3017520"/>
            <a:ext cx="27432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2648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~$65B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794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 estimate from another study; definitions differ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Sources: Ken Research (Aug 2026); Mobility Foresights (Oct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Kirana still leads the basket</a:t>
            </a:r>
            <a:endParaRPr lang="en-US" sz="3200" dirty="0"/>
          </a:p>
        </p:txBody>
      </p:sp>
      <p:graphicFrame>
        <p:nvGraphicFramePr>
          <p:cNvPr id="3" name="Channel mix chart" descr=""/>
          <p:cNvGraphicFramePr/>
          <p:nvPr/>
        </p:nvGraphicFramePr>
        <p:xfrm>
          <a:off x="457200" y="123444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~86%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kirana share expected by 2030, down from ~91% in 2025.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Rs 84.3 trillion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projected grocery market by 2030.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6-8%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of quick-commerce sales is truly incremental; the rest is pulled mostly from e-grocery and modern trade.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Sources: Redseer (Jan 2026); Kearney via Storyboard18 (Jun 2025)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Online grocery drives growth</a:t>
            </a:r>
            <a:endParaRPr lang="en-US" sz="3200" dirty="0"/>
          </a:p>
        </p:txBody>
      </p:sp>
      <p:sp>
        <p:nvSpPr>
          <p:cNvPr id="3" name="Online stat $90B+"/>
          <p:cNvSpPr/>
          <p:nvPr/>
        </p:nvSpPr>
        <p:spPr>
          <a:xfrm>
            <a:off x="457200" y="128016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$90B+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801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retail in 2026, up 22 to 24%</a:t>
            </a:r>
            <a:endParaRPr lang="en-US" sz="1400" dirty="0"/>
          </a:p>
        </p:txBody>
      </p:sp>
      <p:sp>
        <p:nvSpPr>
          <p:cNvPr id="6" name="Online stat $38B"/>
          <p:cNvSpPr/>
          <p:nvPr/>
        </p:nvSpPr>
        <p:spPr>
          <a:xfrm>
            <a:off x="457200" y="23774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$38B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3774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sales in H1 2026, up about 25%</a:t>
            </a:r>
            <a:endParaRPr lang="en-US" sz="1400" dirty="0"/>
          </a:p>
        </p:txBody>
      </p:sp>
      <p:sp>
        <p:nvSpPr>
          <p:cNvPr id="9" name="Online stat #2"/>
          <p:cNvSpPr/>
          <p:nvPr/>
        </p:nvSpPr>
        <p:spPr>
          <a:xfrm>
            <a:off x="457200" y="347472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#2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4747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grocery set to rank second online, after fashion</a:t>
            </a:r>
            <a:endParaRPr lang="en-US" sz="1400" dirty="0"/>
          </a:p>
        </p:txBody>
      </p:sp>
      <p:graphicFrame>
        <p:nvGraphicFramePr>
          <p:cNvPr id="12" name="E-commerce share chart" descr=""/>
          <p:cNvGraphicFramePr/>
          <p:nvPr/>
        </p:nvGraphicFramePr>
        <p:xfrm>
          <a:off x="4572000" y="1234440"/>
          <a:ext cx="41148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Sources: Redseer (2026); Nielsen via HSIE Research (Sep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Each format wins somewhere</a:t>
            </a:r>
            <a:endParaRPr lang="en-US" sz="3200" dirty="0"/>
          </a:p>
        </p:txBody>
      </p:sp>
      <p:sp>
        <p:nvSpPr>
          <p:cNvPr id="3" name="Format card Metros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Metros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Quick commerce leads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 delivery wins affluent, planned baskets that once went to supermarkets.</a:t>
            </a:r>
            <a:endParaRPr lang="en-US" sz="1400" dirty="0"/>
          </a:p>
        </p:txBody>
      </p:sp>
      <p:sp>
        <p:nvSpPr>
          <p:cNvPr id="9" name="Format card Next ~400 cities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Next ~400 cities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Modern trade thrives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Chains such as DMart and Reliance Retail grow on value and assortment.</a:t>
            </a:r>
            <a:endParaRPr lang="en-US" sz="1400" dirty="0"/>
          </a:p>
        </p:txBody>
      </p:sp>
      <p:sp>
        <p:nvSpPr>
          <p:cNvPr id="15" name="Format card Smaller towns and villages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6" name="Badge 3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Smaller towns and villages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Kirana holds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Low-ticket, high-frequency baskets stay with the neighbourhood shop.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Sources: Bernstein via Tribune India (Nov 2025); Redseer (Jan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Discounts differ by channel</a:t>
            </a:r>
            <a:endParaRPr lang="en-US" sz="3200" dirty="0"/>
          </a:p>
        </p:txBody>
      </p:sp>
      <p:sp>
        <p:nvSpPr>
          <p:cNvPr id="3" name="Stat 17.8%"/>
          <p:cNvSpPr/>
          <p:nvPr/>
        </p:nvSpPr>
        <p:spPr>
          <a:xfrm>
            <a:off x="457200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17.8%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Modern trade: average discount to MRP</a:t>
            </a:r>
            <a:endParaRPr lang="en-US" sz="1400" dirty="0"/>
          </a:p>
        </p:txBody>
      </p:sp>
      <p:sp>
        <p:nvSpPr>
          <p:cNvPr id="6" name="Stat 16.7%"/>
          <p:cNvSpPr/>
          <p:nvPr/>
        </p:nvSpPr>
        <p:spPr>
          <a:xfrm>
            <a:off x="2587752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70632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16.7%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70632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E-commerce: average discount to MRP</a:t>
            </a:r>
            <a:endParaRPr lang="en-US" sz="1400" dirty="0"/>
          </a:p>
        </p:txBody>
      </p:sp>
      <p:sp>
        <p:nvSpPr>
          <p:cNvPr id="9" name="Stat 6-9%"/>
          <p:cNvSpPr/>
          <p:nvPr/>
        </p:nvSpPr>
        <p:spPr>
          <a:xfrm>
            <a:off x="4727448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10328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6-9%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Quick commerce: average discount to MRP</a:t>
            </a:r>
            <a:endParaRPr lang="en-US" sz="1400" dirty="0"/>
          </a:p>
        </p:txBody>
      </p:sp>
      <p:sp>
        <p:nvSpPr>
          <p:cNvPr id="12" name="Stat 2-5%"/>
          <p:cNvSpPr/>
          <p:nvPr/>
        </p:nvSpPr>
        <p:spPr>
          <a:xfrm>
            <a:off x="6858000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2-5%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Kirana: average discount to MRP</a:t>
            </a:r>
            <a:endParaRPr lang="en-US" sz="1400" dirty="0"/>
          </a:p>
        </p:txBody>
      </p:sp>
      <p:sp>
        <p:nvSpPr>
          <p:cNvPr id="15" name="Takeaway band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Modern trade competes on price, so private label, loyalty offers and fresh range protect margin.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Source: Kearney via Storyboard18 (Jun 2025)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trends shaping sales</a:t>
            </a:r>
            <a:endParaRPr lang="en-US" sz="3200" dirty="0"/>
          </a:p>
        </p:txBody>
      </p:sp>
      <p:sp>
        <p:nvSpPr>
          <p:cNvPr id="3" name="Trend card Private label push"/>
          <p:cNvSpPr/>
          <p:nvPr/>
        </p:nvSpPr>
        <p:spPr>
          <a:xfrm>
            <a:off x="457200" y="12801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Private label push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Retailers promote own brands in staples, snacks and household goods to protect margins.</a:t>
            </a:r>
            <a:endParaRPr lang="en-US" sz="1400" dirty="0"/>
          </a:p>
        </p:txBody>
      </p:sp>
      <p:sp>
        <p:nvSpPr>
          <p:cNvPr id="8" name="Trend card Value grocery beyond metros"/>
          <p:cNvSpPr/>
          <p:nvPr/>
        </p:nvSpPr>
        <p:spPr>
          <a:xfrm>
            <a:off x="4709160" y="12801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Value grocery beyond metros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Savings and assortment, more than delivery speed, draw the next wave of online shoppers.</a:t>
            </a:r>
            <a:endParaRPr lang="en-US" sz="1400" dirty="0"/>
          </a:p>
        </p:txBody>
      </p:sp>
      <p:sp>
        <p:nvSpPr>
          <p:cNvPr id="13" name="Trend card Smarter stores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Badge 3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Smarter stores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29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Barcode scanning and modern checkout speed up billing and inventory control.</a:t>
            </a:r>
            <a:endParaRPr lang="en-US" sz="1400" dirty="0"/>
          </a:p>
        </p:txBody>
      </p:sp>
      <p:sp>
        <p:nvSpPr>
          <p:cNvPr id="18" name="Trend card Omnichannel and cold chain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Badge 4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Omnichannel and cold chain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429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Digital payments, online ordering and better cold storage lift fresh availability.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Sources: Mobility Foresights (2026); Business Today (Jun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KPIs to track every week</a:t>
            </a:r>
            <a:endParaRPr lang="en-US" sz="3200" dirty="0"/>
          </a:p>
        </p:txBody>
      </p:sp>
      <p:sp>
        <p:nvSpPr>
          <p:cNvPr id="3" name="KPI card Sales per sq ft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Sales per sq ft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019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per selling area; tracks store productivity.</a:t>
            </a:r>
            <a:endParaRPr lang="en-US" sz="1400" dirty="0"/>
          </a:p>
        </p:txBody>
      </p:sp>
      <p:sp>
        <p:nvSpPr>
          <p:cNvPr id="6" name="KPI card Average basket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Average basket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019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and items per bill; lift with bundles.</a:t>
            </a:r>
            <a:endParaRPr lang="en-US" sz="1400" dirty="0"/>
          </a:p>
        </p:txBody>
      </p:sp>
      <p:sp>
        <p:nvSpPr>
          <p:cNvPr id="9" name="KPI card Footfall and conversion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Footfall and conversion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9019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Visitors versus bills; shows if promos work.</a:t>
            </a:r>
            <a:endParaRPr lang="en-US" sz="1400" dirty="0"/>
          </a:p>
        </p:txBody>
      </p:sp>
      <p:sp>
        <p:nvSpPr>
          <p:cNvPr id="12" name="KPI card Private label share"/>
          <p:cNvSpPr/>
          <p:nvPr/>
        </p:nvSpPr>
        <p:spPr>
          <a:xfrm>
            <a:off x="457200" y="28803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Private label share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021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from own brands; a key margin lever.</a:t>
            </a:r>
            <a:endParaRPr lang="en-US" sz="1400" dirty="0"/>
          </a:p>
        </p:txBody>
      </p:sp>
      <p:sp>
        <p:nvSpPr>
          <p:cNvPr id="15" name="KPI card Fresh shrinkage"/>
          <p:cNvSpPr/>
          <p:nvPr/>
        </p:nvSpPr>
        <p:spPr>
          <a:xfrm>
            <a:off x="3291840" y="28803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Fresh shrinkage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5021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Wastage as a share of fresh sales; keep it falling.</a:t>
            </a:r>
            <a:endParaRPr lang="en-US" sz="1400" dirty="0"/>
          </a:p>
        </p:txBody>
      </p:sp>
      <p:sp>
        <p:nvSpPr>
          <p:cNvPr id="18" name="KPI card Online share of sales"/>
          <p:cNvSpPr/>
          <p:nvPr/>
        </p:nvSpPr>
        <p:spPr>
          <a:xfrm>
            <a:off x="6126480" y="28803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Online share of sales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5021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Orders from your app and delivery partners.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Add your own store figures to each KPI to turn this into a live sales review.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Growth playbook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Win the basket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280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Sharpen assortment and private label in everyday staples.</a:t>
            </a:r>
            <a:endParaRPr lang="en-US" sz="1600" dirty="0"/>
          </a:p>
        </p:txBody>
      </p:sp>
      <p:sp>
        <p:nvSpPr>
          <p:cNvPr id="7" name="Badge 2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Go omnichannel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103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Offer app ordering and partner with quick commerce in metros.</a:t>
            </a:r>
            <a:endParaRPr lang="en-US" sz="1600" dirty="0"/>
          </a:p>
        </p:txBody>
      </p:sp>
      <p:sp>
        <p:nvSpPr>
          <p:cNvPr id="11" name="Badge 3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Localise by city tier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Lead with value and range in smaller cities, speed in metros.</a:t>
            </a:r>
            <a:endParaRPr lang="en-US" sz="1600" dirty="0"/>
          </a:p>
        </p:txBody>
      </p:sp>
      <p:sp>
        <p:nvSpPr>
          <p:cNvPr id="15" name="Badge 4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Run on data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749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Review footfall, basket size and shrinkage every week.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Sources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Redseer Strategy Consultants: India grocery (Jan 2026) and online retail (2026) reports, via news coverage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Ken Research: India Supermarket Retail Market (Aug 2026)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Mobility Foresights: India Supermarket Market (Oct 2026)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Nielsen and HSIE Research, via HDFC Sky (Sep 2026)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Kearney, via Storyboard18 (Jun 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Bernstein, via Tribune India (Nov 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Retailers Association of India, Round 69 survey (Apr 2026)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Business Today (Jun 2026)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Market estimates differ by research firm and definition; treat figures as indicative.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sh Grocery">
  <a:themeElements>
    <a:clrScheme name="Fresh Grocery">
      <a:dk1>
        <a:srgbClr val="1B2A22"/>
      </a:dk1>
      <a:lt1>
        <a:srgbClr val="FFFFFF"/>
      </a:lt1>
      <a:dk2>
        <a:srgbClr val="14532D"/>
      </a:dk2>
      <a:lt2>
        <a:srgbClr val="EAF4EC"/>
      </a:lt2>
      <a:accent1>
        <a:srgbClr val="1E7B45"/>
      </a:accent1>
      <a:accent2>
        <a:srgbClr val="B85C0A"/>
      </a:accent2>
      <a:accent3>
        <a:srgbClr val="C8372D"/>
      </a:accent3>
      <a:accent4>
        <a:srgbClr val="F2C14E"/>
      </a:accent4>
      <a:accent5>
        <a:srgbClr val="5B8E7D"/>
      </a:accent5>
      <a:accent6>
        <a:srgbClr val="8A5A44"/>
      </a:accent6>
      <a:hlink>
        <a:srgbClr val="1E7B45"/>
      </a:hlink>
      <a:folHlink>
        <a:srgbClr val="5B8E7D"/>
      </a:folHlink>
    </a:clrScheme>
    <a:fontScheme name="Fresh Groce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&amp; Grocery Sales</dc:title>
  <dc:subject>PptxGenJS Presentation</dc:subject>
  <dc:creator>PptxGenJS</dc:creator>
  <cp:lastModifiedBy>PptxGenJS</cp:lastModifiedBy>
  <cp:revision>1</cp:revision>
  <dcterms:created xsi:type="dcterms:W3CDTF">2026-10-28T04:46:51Z</dcterms:created>
  <dcterms:modified xsi:type="dcterms:W3CDTF">2026-10-28T04:46:51Z</dcterms:modified>
</cp:coreProperties>
</file>